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Graphical Abstract</a:t>
            </a:r>
          </a:p>
        </p:txBody>
      </p:sp>
      <p:pic>
        <p:nvPicPr>
          <p:cNvPr id="3" name="Picture 2" descr="fig0_graphic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900" y="914400"/>
            <a:ext cx="863371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Selectable initial compartment -&gt; order-of-magnitude effect on predicted peak and timing -&gt; external validation against published data (90% within two-fold; GMFE 1.51; r = 0.81).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1: Three-compartment model</a:t>
            </a:r>
          </a:p>
        </p:txBody>
      </p:sp>
      <p:pic>
        <p:nvPicPr>
          <p:cNvPr id="3" name="Picture 2" descr="fig1_compartment_diagram_plas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363" y="914400"/>
            <a:ext cx="646279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Three-compartment model with selectable initial compartment (plasma highlighted).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2: Bupivacaine by initial compartment</a:t>
            </a:r>
          </a:p>
        </p:txBody>
      </p:sp>
      <p:pic>
        <p:nvPicPr>
          <p:cNvPr id="3" name="Picture 2" descr="fig2_bupivacai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530" y="914400"/>
            <a:ext cx="789245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Bupivacaine 150 mg: plasma concentration by initial compartment with toxicity thresholds.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3: Four local anesthetics</a:t>
            </a:r>
          </a:p>
        </p:txBody>
      </p:sp>
      <p:pic>
        <p:nvPicPr>
          <p:cNvPr id="3" name="Picture 2" descr="fig3_all_drug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64" y="914400"/>
            <a:ext cx="619859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Plasma concentration comparison for all four local anesthetics by initial compartment.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4: Effect-site response</a:t>
            </a:r>
          </a:p>
        </p:txBody>
      </p:sp>
      <p:pic>
        <p:nvPicPr>
          <p:cNvPr id="3" name="Picture 2" descr="fig4_bupivacaine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423" y="914400"/>
            <a:ext cx="789467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Bupivacaine: effect-site response by initial compartment.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5: Full compartment profile</a:t>
            </a:r>
          </a:p>
        </p:txBody>
      </p:sp>
      <p:pic>
        <p:nvPicPr>
          <p:cNvPr id="3" name="Picture 2" descr="fig5_bupivacaine_bpt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423" y="914400"/>
            <a:ext cx="789467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Bupivacaine 150 mg from vessel-poor tissue (BPT): full compartment concentration profile.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6: PKPD summary</a:t>
            </a:r>
          </a:p>
        </p:txBody>
      </p:sp>
      <p:pic>
        <p:nvPicPr>
          <p:cNvPr id="3" name="Picture 2" descr="fig6_summa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90728"/>
            <a:ext cx="11247120" cy="24193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Bupivacaine 150 mg: PKPD summary by initial compartment.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7: Route-aware scenarios</a:t>
            </a:r>
          </a:p>
        </p:txBody>
      </p:sp>
      <p:pic>
        <p:nvPicPr>
          <p:cNvPr id="3" name="Picture 2" descr="fig7_safety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018" y="914400"/>
            <a:ext cx="638548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Plasma concentration-time curves: intravenous-input model (red) vs depot/fascial plane (blue) and vessel-poor tissue/BPT (green dashed). Simulation scenarios; shared rate constants, only the initial compartment differs.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8: Time to peak (Tmax)</a:t>
            </a:r>
          </a:p>
        </p:txBody>
      </p:sp>
      <p:pic>
        <p:nvPicPr>
          <p:cNvPr id="3" name="Picture 2" descr="fig8_tmax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135" y="914400"/>
            <a:ext cx="77152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The intravenous-input model predicts Tmax = 0 for all drugs. Route-aware scenarios place the simulated peak tens of minutes later. Simulation outputs, not measured values.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9: Monitoring window</a:t>
            </a:r>
          </a:p>
        </p:txBody>
      </p:sp>
      <p:pic>
        <p:nvPicPr>
          <p:cNvPr id="3" name="Picture 2" descr="fig9_monitorin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818" y="914400"/>
            <a:ext cx="789588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Simulated peak timing relative to discharge. Diamond markers = Tmax under each scenario. Simulation scenarios, not clinically proven predictions.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10: Cmax vs toxicity thresholds</a:t>
            </a:r>
          </a:p>
        </p:txBody>
      </p:sp>
      <p:pic>
        <p:nvPicPr>
          <p:cNvPr id="3" name="Picture 2" descr="fig10_cmax_tox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434" y="914400"/>
            <a:ext cx="77126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The intravenous-input model predicts Cmax well above thresholds for non-intravenous routes; depot and vessel-poor-tissue scenarios predict lower values closer to published studies. Simulation outputs.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11: Scenario summary</a:t>
            </a:r>
          </a:p>
        </p:txBody>
      </p:sp>
      <p:pic>
        <p:nvPicPr>
          <p:cNvPr id="3" name="Picture 2" descr="fig11_safety_summa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23388"/>
            <a:ext cx="11247120" cy="39540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Rate constants shared across scenarios; only the initial compartment differs. Pink = intravenous-input; blue = depot/fascial plane; green = vessel-poor tissue.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12: Validation — observed vs predicted Cmax</a:t>
            </a:r>
          </a:p>
        </p:txBody>
      </p:sp>
      <p:pic>
        <p:nvPicPr>
          <p:cNvPr id="3" name="Picture 2" descr="fig12_validation_c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260" y="914400"/>
            <a:ext cx="4953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Observed vs predicted Cmax (depot model, ka calibrated to observed Tmax). Solid line = identity; shaded band = two-fold. 90% within two-fold (GMFE 1.51; r = 0.81). Circle = venous, triangle = arterial sampling.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13: Validation — observed vs predicted Tmax</a:t>
            </a:r>
          </a:p>
        </p:txBody>
      </p:sp>
      <p:pic>
        <p:nvPicPr>
          <p:cNvPr id="3" name="Picture 2" descr="fig13_validation_t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260" y="914400"/>
            <a:ext cx="4953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The depot model reproduces observed 11-58 min peaks; the intravenous-input baseline predicts Tmax = 0 for every study (red crosses on the horizontal axis).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14: Validation — concentration-time curves</a:t>
            </a:r>
          </a:p>
        </p:txBody>
      </p:sp>
      <p:pic>
        <p:nvPicPr>
          <p:cNvPr id="3" name="Picture 2" descr="fig14_valida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760" y="914400"/>
            <a:ext cx="6096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Representative predicted curves (yoshika depot, blue; intravenous-input baseline, red dashed) against observed peak Cmax +/- SD (black squares) for intercostal, TAP, axillary plexus, and epidural cases.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